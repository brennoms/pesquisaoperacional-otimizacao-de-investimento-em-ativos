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3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505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2193885"/>
            <a:ext cx="10467007" cy="25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kern="0" spc="250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LINEAR · PROBLEMA 1 — FINANÇAS</a:t>
            </a:r>
            <a:endParaRPr lang="en-US" sz="1550" dirty="0"/>
          </a:p>
        </p:txBody>
      </p:sp>
      <p:sp>
        <p:nvSpPr>
          <p:cNvPr id="3" name="Text 1"/>
          <p:cNvSpPr txBox="1"/>
          <p:nvPr/>
        </p:nvSpPr>
        <p:spPr>
          <a:xfrm>
            <a:off x="812240" y="2579070"/>
            <a:ext cx="10885687" cy="92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2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Alocação ótima de carteira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12240" y="3617398"/>
            <a:ext cx="10467007" cy="38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B6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Ápice Capital Gestora de Recursos · R$ 10.000.000,00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12240" y="4186803"/>
            <a:ext cx="10467007" cy="25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C5D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Becker · Brenno Marques · João Lourega · Bernardo Chagas · Leonardo Garcia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12240" y="4454758"/>
            <a:ext cx="10467007" cy="25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8F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Linear Aplicada · 13/10/2026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e objetivo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12240" y="1549117"/>
            <a:ext cx="10592611" cy="66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Ápice Capital administra uma carteira multimercado de </a:t>
            </a:r>
            <a:r>
              <a:rPr lang="en-US" sz="16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R$ 10.000.000,00</a:t>
            </a:r>
            <a:r>
              <a:rPr lang="en-US" sz="160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um fundo de pensão. O comitê pediu um estudo para decidir quanto alocar em cada classe de ativo.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240" y="2419972"/>
            <a:ext cx="3399684" cy="1498875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1580" y="2604191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21580" y="2922388"/>
            <a:ext cx="2981004" cy="91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Maximizar o retorno mensal esperado da carteira.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6143" y="2419972"/>
            <a:ext cx="3399684" cy="1498875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5483" y="2604191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05483" y="2922388"/>
            <a:ext cx="2981004" cy="91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fração do capital aplicar em cada uma das quatro classes.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71672" y="2419972"/>
            <a:ext cx="3399684" cy="1498875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1013" y="2604191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181013" y="2922388"/>
            <a:ext cx="2981004" cy="91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políticas internas de liquidez, concentração, inflação, câmbio e risco.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12240" y="4186803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56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Ferramenta: Programação Linear resolvida no Solver do Excel, com dados do Banco Central (SGS).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quatro classes de ativos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240" y="1565864"/>
            <a:ext cx="5191635" cy="1750084"/>
          </a:xfrm>
          <a:prstGeom prst="roundRect">
            <a:avLst>
              <a:gd name="adj" fmla="val 522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1580" y="1750084"/>
            <a:ext cx="4772955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DI/CDI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21580" y="2068281"/>
            <a:ext cx="4772955" cy="11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Fundos que seguem o CDI, a taxa dos empréstimos entre bancos. </a:t>
            </a: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CDI acompanha a Selic de perto</a:t>
            </a: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cerca de 0,10 p.p. abaixo dela. Liquidez diária e baixo risco.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88094" y="1565864"/>
            <a:ext cx="5191635" cy="1750084"/>
          </a:xfrm>
          <a:prstGeom prst="roundRect">
            <a:avLst>
              <a:gd name="adj" fmla="val 522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97435" y="1750084"/>
            <a:ext cx="4772955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Prefixado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397435" y="2068281"/>
            <a:ext cx="4772955" cy="11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público com taxa fixada na compra. </a:t>
            </a: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acompanha a Selic</a:t>
            </a: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neste exercício, a meta Selic é só uma aproximação do retorno esperado. Risco de marcação a mercado.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2240" y="3575530"/>
            <a:ext cx="5191635" cy="1490502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1580" y="3759749"/>
            <a:ext cx="4772955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Tesouro IPCA+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21580" y="4077946"/>
            <a:ext cx="4772955" cy="9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público que paga a inflação (IPCA) mais um juro real. Aqui: IPCA médio mais spread de 6% a.a. Protege o poder de compra.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88094" y="3575530"/>
            <a:ext cx="5191635" cy="1490502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7435" y="3759749"/>
            <a:ext cx="4772955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97435" y="4077946"/>
            <a:ext cx="4772955" cy="9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Fundos atrelados ao dólar comercial. Servem de hedge contra a desvalorização do real, mas oscilam muito.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 e parâmetros estimados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240" y="1565864"/>
          <a:ext cx="10559116" cy="2763290"/>
        </p:xfrm>
        <a:graphic>
          <a:graphicData uri="http://schemas.openxmlformats.org/drawingml/2006/table">
            <a:tbl>
              <a:tblPr/>
              <a:tblGrid>
                <a:gridCol w="2646059"/>
                <a:gridCol w="2637686"/>
                <a:gridCol w="2646059"/>
                <a:gridCol w="2629312"/>
              </a:tblGrid>
              <a:tr h="5526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Série BCB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Retorno % a.m.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% a.m.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</a:tr>
              <a:tr h="5526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x₁ DI/CDI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SGS 12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1,029889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0,120000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526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x₂ Prefixado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SGS 432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1,037410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0,119448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526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x₃ Tesouro IPCA+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SGS 433 + 6% a.a.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0,862210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0,296722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526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B823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x₄ Cambial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SGS 1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B823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−0,032545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B823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3,120366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240" y="4605483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56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01/01/2023 a 09/2026. Séries sem duplicatas, lacunas ou linhas em branco. Conversões: CDI (1+r)^21, Selic (1+r)^(1/12), dólar média×21 e desvio×√21.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os dados foram tratados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240" y="1565864"/>
          <a:ext cx="10559116" cy="2553950"/>
        </p:xfrm>
        <a:graphic>
          <a:graphicData uri="http://schemas.openxmlformats.org/drawingml/2006/table">
            <a:tbl>
              <a:tblPr/>
              <a:tblGrid>
                <a:gridCol w="3516914"/>
                <a:gridCol w="3516914"/>
                <a:gridCol w="3525288"/>
              </a:tblGrid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Série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original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Conversão para % ao mês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CDI (SGS 12)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ao dia, 921 linhas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((1+r)^21 − 1)·100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Selic meta (SGS 432)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ao ano, 1.340 linhas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((1+r)^(1/12) − 1)·100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IPCA (SGS 433)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ao mês, 44 linhas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 + spread 0,4868%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Dólar (SGS 1)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por US$, 921 linhas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média×21 e desvio×√21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240" y="4396143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56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duplicata, lacuna ou linha em branco. Os tamanhos diferem porque cada série tem sua frequência de publicação. Desvio-padrão amostral (DESVPAD.A).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IPCA+ e cambial: como foram obtidos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240" y="1565864"/>
            <a:ext cx="5191635" cy="1498875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1580" y="1750084"/>
            <a:ext cx="4772955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IPCA+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21580" y="2068281"/>
            <a:ext cx="4772955" cy="91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IPCA médio 0,375455% + spread mensal de 6% a.a. (0,486755%) = 0,862210% ao mês. O risco é o desvio-padrão do próprio IPCA: 0,296722%.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88094" y="1565864"/>
            <a:ext cx="5191635" cy="1498875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97435" y="1750084"/>
            <a:ext cx="4772955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397435" y="2068281"/>
            <a:ext cx="4772955" cy="91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diária do dólar: média −0,001550% e desvio 0,680920%. Escala mensal: média ×21 = −0,032545% e desvio ×√21 = 3,120366%.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12240" y="3332695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56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mensal: ((1,06)^(1/12) − 1) × 100. Variação diária: (B3 − B2) / B2 × 100.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Programação Linear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240" y="1565864"/>
            <a:ext cx="10559116" cy="1021580"/>
          </a:xfrm>
          <a:prstGeom prst="roundRect">
            <a:avLst>
              <a:gd name="adj" fmla="val 8951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569" y="1817072"/>
            <a:ext cx="7536245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MAXIMIZAR (% ao mês)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88569" y="2034786"/>
            <a:ext cx="9880854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1,029889·x₁ + 1,037410·x₂ + 0,862210·x₃ − 0,032545·x₄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12240" y="2847026"/>
            <a:ext cx="5158141" cy="2110149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6701" y="2997751"/>
            <a:ext cx="4739461" cy="284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internas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46701" y="3357816"/>
            <a:ext cx="4823197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· x₁+x₂+x₃+x₄ = 1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46701" y="3709507"/>
            <a:ext cx="4823197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· x₁ ≥ 0,15 (liquidez)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46701" y="4061199"/>
            <a:ext cx="4823197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· x₂ ≤ 0,40 (concentração)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046701" y="4412890"/>
            <a:ext cx="4823197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 · x₃ ≥ 0,10 (inflação)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221589" y="2847026"/>
            <a:ext cx="5158141" cy="2110149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56050" y="2997751"/>
            <a:ext cx="4739461" cy="284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 e risco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456050" y="3357816"/>
            <a:ext cx="4823197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 · x₄ ≥ 0,05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56050" y="3709507"/>
            <a:ext cx="4823197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 · x₄ ≤ 0,15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456050" y="4061199"/>
            <a:ext cx="4823197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 · 0,1200x₁ + 0,1194x₂ + 0,2967x₃ + 3,1204x₄ ≤ 0,35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456050" y="4412890"/>
            <a:ext cx="4823197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xᵢ ≥ 0 · resolvido no Solver (LP Simplex)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montado e resolvido no Excel</a:t>
            </a:r>
            <a:endParaRPr lang="en-US" sz="3000" dirty="0"/>
          </a:p>
        </p:txBody>
      </p:sp>
      <p:pic>
        <p:nvPicPr>
          <p:cNvPr id="3" name="Image 0" descr="Planilha do Excel com o modelo resolvido pelo Solv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40" y="1524734"/>
            <a:ext cx="9663141" cy="48148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 e as unidades do modelo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240" y="1565864"/>
            <a:ext cx="3399684" cy="1992918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1580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existe R1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21580" y="2068281"/>
            <a:ext cx="2981004" cy="1406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enunciado lista cinco políticas, mas o modelo tem sete restrições. R1 (soma = 1) é implícita: todo o capital deve ser aplicado. Sem ela o Solver poderia deixar dinheiro parado.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96143" y="1565864"/>
            <a:ext cx="3399684" cy="1992918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5483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Frações, não reais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05483" y="2068281"/>
            <a:ext cx="2981004" cy="1406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Trabalhar com frações mantém os coeficientes na mesma ordem de grandeza. A conversão para reais é feita ao final, multiplicando por R$ 10 milhões.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71672" y="1565864"/>
            <a:ext cx="3399684" cy="1992918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1013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escala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81013" y="2068281"/>
            <a:ext cx="2981004" cy="1406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Retornos, riscos e o limite de risco estão em pontos percentuais ao mês. O limite é 0,35, e não 0,0035. Misturar escalas torna o modelo inviável.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 padrão para o Simplex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12240" y="1532370"/>
            <a:ext cx="10550743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 + x₂ + x₃ + x₄ + a₁ = 1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812240" y="2051533"/>
            <a:ext cx="10550743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 − e₂ + a₂ = 0,15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812240" y="2570697"/>
            <a:ext cx="10550743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 + f₃ = 0,40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12240" y="3089860"/>
            <a:ext cx="10550743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x₃ − e₄ + a₄ = 0,10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12240" y="3609024"/>
            <a:ext cx="10550743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x₄ − e₅ + a₅ = 0,05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12240" y="4128187"/>
            <a:ext cx="10550743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x₄ + f₆ = 0,15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12240" y="4647351"/>
            <a:ext cx="10550743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0,1200x₁ + 0,1194x₂ + 0,2967x₃ + 3,1204x₄ + f₇ = 0,35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12240" y="5174888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56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= folga, e = excesso, a = artificial. As restrições ≥ e a igualdade exigem artificiais e o método das duas fases (ou Big-M).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Configuração do Solver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240" y="1565864"/>
          <a:ext cx="10559116" cy="3575530"/>
        </p:xfrm>
        <a:graphic>
          <a:graphicData uri="http://schemas.openxmlformats.org/drawingml/2006/table">
            <a:tbl>
              <a:tblPr/>
              <a:tblGrid>
                <a:gridCol w="5275371"/>
                <a:gridCol w="5283745"/>
              </a:tblGrid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Definição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 (retorno da carteira), maximizar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Células variáveis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x₁ a x₄ (frações do capital)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Restrições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sete restrições R1 a R7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Variáveis sem restrição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Tornar não negativas (marcado)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 Simplex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Relatório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Sensibilidade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240" y="5400976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56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Solver trata as restrições ≥ e a igualdade com variáveis artificiais, internamente.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Solução ótima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240" y="1565864"/>
            <a:ext cx="2512082" cy="1766831"/>
          </a:xfrm>
          <a:prstGeom prst="roundRect">
            <a:avLst>
              <a:gd name="adj" fmla="val 5175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8327" y="1800325"/>
            <a:ext cx="2177137" cy="25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B6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DI/CDI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1038327" y="2110149"/>
            <a:ext cx="2177137" cy="6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38327" y="2847026"/>
            <a:ext cx="2177137" cy="25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R$ 4.500.000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500167" y="1565864"/>
            <a:ext cx="2512082" cy="1766831"/>
          </a:xfrm>
          <a:prstGeom prst="roundRect">
            <a:avLst>
              <a:gd name="adj" fmla="val 5175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6254" y="1800325"/>
            <a:ext cx="2177137" cy="25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B6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Prefixado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726254" y="2110149"/>
            <a:ext cx="2177137" cy="6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3726254" y="2847026"/>
            <a:ext cx="2177137" cy="25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R$ 4.000.000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88094" y="1565864"/>
            <a:ext cx="2512082" cy="1766831"/>
          </a:xfrm>
          <a:prstGeom prst="roundRect">
            <a:avLst>
              <a:gd name="adj" fmla="val 5175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4182" y="1800325"/>
            <a:ext cx="2177137" cy="25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B6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IPCA+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14182" y="2110149"/>
            <a:ext cx="2177137" cy="6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414182" y="2847026"/>
            <a:ext cx="2177137" cy="25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R$ 1.000.000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876022" y="1565864"/>
            <a:ext cx="2512082" cy="1766831"/>
          </a:xfrm>
          <a:prstGeom prst="roundRect">
            <a:avLst>
              <a:gd name="adj" fmla="val 5175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02109" y="1800325"/>
            <a:ext cx="2177137" cy="25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B6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Cambial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102109" y="2110149"/>
            <a:ext cx="2177137" cy="6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9102109" y="2847026"/>
            <a:ext cx="2177137" cy="25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R$ 500.000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12240" y="3592277"/>
            <a:ext cx="10559116" cy="1105316"/>
          </a:xfrm>
          <a:prstGeom prst="roundRect">
            <a:avLst>
              <a:gd name="adj" fmla="val 8273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88569" y="3809990"/>
            <a:ext cx="10048327" cy="401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0,963007% ao mês = R$ 96.300,74 por mês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1088569" y="4228671"/>
            <a:ext cx="10048327" cy="25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ponderado 0,2875 contra limite de 0,35 (folga)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12240" y="4965548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Ativas: R3, R4, R5. Com folga: R2 (30 p.p.), R6 (10 p.p.) e R7. O CDI é o destino residual.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Restrições ativas e com folga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240" y="1565864"/>
          <a:ext cx="10559116" cy="914400"/>
        </p:xfrm>
        <a:graphic>
          <a:graphicData uri="http://schemas.openxmlformats.org/drawingml/2006/table">
            <a:tbl>
              <a:tblPr/>
              <a:tblGrid>
                <a:gridCol w="3516914"/>
                <a:gridCol w="3516914"/>
                <a:gridCol w="3525288"/>
              </a:tblGrid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Restrição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Leitura de negócio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</a:tr>
              <a:tr h="7703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 Prefixado ≤ 40%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 mais rentável, travado só pela política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778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 IPCA+ ≥ 10%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Obriga posição em classe menos rentável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 Hedge ≥ 5%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Obriga posição em retorno negativo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 Liquidez ≥ 15%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Folga 30 p.p.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CDI fica com 45% por ser residual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 Hedge ≤ 15%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Folga 10 p.p.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modelo foge do câmbio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R7 Risco ≤ 0,35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Folga 0,0625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 0,2875 do orçamento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 solução tem esse formato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240" y="1565864"/>
            <a:ext cx="3399684" cy="1490502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1580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Prefixado no teto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21580" y="2068281"/>
            <a:ext cx="2981004" cy="9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ativo de maior retorno (1,0374%) e o de menor risco (0,1194%). Só a política de 40% o impede de crescer.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96143" y="1565864"/>
            <a:ext cx="3399684" cy="1490502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5483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Liquidez sobra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05483" y="2068281"/>
            <a:ext cx="2981004" cy="9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CDI fica com 45%, o triplo do mínimo. Não é pela liquidez: é o único destino do capital restante.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71672" y="1565864"/>
            <a:ext cx="3399684" cy="1490502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1013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sobra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81013" y="2068281"/>
            <a:ext cx="2981004" cy="9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Câmbio, a classe mais arriscada, já é limitada pelo hedge. Usa 0,2875 dos 0,35 autorizados.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onde vem o risco da carteira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240" y="1565864"/>
          <a:ext cx="10559116" cy="914400"/>
        </p:xfrm>
        <a:graphic>
          <a:graphicData uri="http://schemas.openxmlformats.org/drawingml/2006/table">
            <a:tbl>
              <a:tblPr/>
              <a:tblGrid>
                <a:gridCol w="3516914"/>
                <a:gridCol w="3516914"/>
                <a:gridCol w="3525288"/>
              </a:tblGrid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Contribuição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risco total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DI/CDI (45%)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0,0540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Prefixado (40%)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0,0478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IPCA+ (10%)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0,0297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Cambial (5%)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0,1560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54,3%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240" y="4379396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câmbio ocupa 5% do capital e responde por mais da metade do risco. Sua volatilidade (3,12%) é 26 vezes a do CDI. Por isso a política de hedge já protege o orçamento de risco.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de sensibilidade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240" y="1565864"/>
          <a:ext cx="10559116" cy="914400"/>
        </p:xfrm>
        <a:graphic>
          <a:graphicData uri="http://schemas.openxmlformats.org/drawingml/2006/table">
            <a:tbl>
              <a:tblPr/>
              <a:tblGrid>
                <a:gridCol w="3516914"/>
                <a:gridCol w="3516914"/>
                <a:gridCol w="3525288"/>
              </a:tblGrid>
              <a:tr h="5526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Política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Preço-sombra (R$/mês por p.p.)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</a:tr>
              <a:tr h="5526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 Prefixado ≤ 40%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+7,52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526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 IPCA+ ≥ 10%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−167,68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526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 Hedge ≥ 5%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B823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−1.062,43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526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R2, R6, R7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 folga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240" y="4588736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 mínimo é a política mais cara: R$ 5.312,17 por mês no total, contra R$ 1.676,79 do IPCA+. Subir o teto de prefixado rende pouco e vale até 70%.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Lendo os preços-sombra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240" y="1565864"/>
            <a:ext cx="3399684" cy="1750084"/>
          </a:xfrm>
          <a:prstGeom prst="roundRect">
            <a:avLst>
              <a:gd name="adj" fmla="val 522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1580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Prefixado: +R$ 7,52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21580" y="2068281"/>
            <a:ext cx="2981004" cy="11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p.p. a mais no teto rende pouco: a vantagem sobre o CDI é de só 0,0075 p.p. Vale até 70%, onde Z chega a 0,965264%.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96143" y="1565864"/>
            <a:ext cx="3399684" cy="1750084"/>
          </a:xfrm>
          <a:prstGeom prst="roundRect">
            <a:avLst>
              <a:gd name="adj" fmla="val 522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5483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IPCA+: −R$ 167,68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05483" y="2068281"/>
            <a:ext cx="2981004" cy="11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p.p. exigido troca CDI (1,0299%) por 0,8622%. A política de 10% custa R$ 1.676,79 por mês.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71672" y="1565864"/>
            <a:ext cx="3399684" cy="1750084"/>
          </a:xfrm>
          <a:prstGeom prst="roundRect">
            <a:avLst>
              <a:gd name="adj" fmla="val 522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1013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Hedge: −R$ 1.062,43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81013" y="2068281"/>
            <a:ext cx="2981004" cy="11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6,3 vezes mais caro que o IPCA+ e 141 vezes o ganho do prefixado. Total: R$ 5.312,17 por mês.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12240" y="3583903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56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Liquidez, hedge máximo e risco têm preço-sombra zero: afrouxá-los não traria retorno.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 as políticas custam por mês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240" y="1565864"/>
          <a:ext cx="10559116" cy="914400"/>
        </p:xfrm>
        <a:graphic>
          <a:graphicData uri="http://schemas.openxmlformats.org/drawingml/2006/table">
            <a:tbl>
              <a:tblPr/>
              <a:tblGrid>
                <a:gridCol w="5275371"/>
                <a:gridCol w="5283745"/>
              </a:tblGrid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Política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(R$/mês)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Hedge cambial mínimo (5%)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5.312,17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Proteção IPCA+ mínima (10%)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1.676,79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Teto de prefixado (40%)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451,25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frente a 100% em prefixado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7.440,21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240" y="4379396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56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em prefixado renderia R$ 103.740,95 por mês, contra R$ 96.300,74 da carteira ótima. Cálculo feito a partir dos preços-sombra.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Reduzindo o orçamento de risco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240" y="1565864"/>
          <a:ext cx="10559116" cy="914400"/>
        </p:xfrm>
        <a:graphic>
          <a:graphicData uri="http://schemas.openxmlformats.org/drawingml/2006/table">
            <a:tbl>
              <a:tblPr/>
              <a:tblGrid>
                <a:gridCol w="5275371"/>
                <a:gridCol w="5283745"/>
              </a:tblGrid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 de risco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0,350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 = 0,963007% (solução original)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0,300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 = 0,963007% (inalterada)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0,287470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 = 0,963007% (inalterada)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0,287469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Inviável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240" y="4379396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carteira de retorno máximo é também a de menor risco permitido pelas demais políticas. Reduzir o orçamento não piora a solução: elimina a solução.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Observações críticas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240" y="1565864"/>
            <a:ext cx="3399684" cy="1817072"/>
          </a:xfrm>
          <a:prstGeom prst="roundRect">
            <a:avLst>
              <a:gd name="adj" fmla="val 5032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1580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trade-off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21580" y="2068281"/>
            <a:ext cx="2981004" cy="1230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ativos mais rentáveis são também os menos voláteis. O câmbio rende menos e oscila 26 vezes mais que o CDI.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96143" y="1565864"/>
            <a:ext cx="3399684" cy="1817072"/>
          </a:xfrm>
          <a:prstGeom prst="roundRect">
            <a:avLst>
              <a:gd name="adj" fmla="val 5032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5483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no limite viável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05483" y="2068281"/>
            <a:ext cx="2981004" cy="1230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0,2875 é o menor risco possível. Abaixo disso o modelo fica inviável. Hedge acima de 7,08% também inviabiliza.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71672" y="1565864"/>
            <a:ext cx="3399684" cy="1817072"/>
          </a:xfrm>
          <a:prstGeom prst="roundRect">
            <a:avLst>
              <a:gd name="adj" fmla="val 5032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1013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simplificado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81013" y="2068281"/>
            <a:ext cx="2981004" cy="1230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soma Σσᵢxᵢ ignora correlações. A medida correta, √(xᵀΣx), exigiria programação quadrática.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Hedge mínimo e viabilidade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240" y="1565864"/>
          <a:ext cx="10559116" cy="914400"/>
        </p:xfrm>
        <a:graphic>
          <a:graphicData uri="http://schemas.openxmlformats.org/drawingml/2006/table">
            <a:tbl>
              <a:tblPr/>
              <a:tblGrid>
                <a:gridCol w="3516914"/>
                <a:gridCol w="3516914"/>
                <a:gridCol w="3525288"/>
              </a:tblGrid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Piso de hedge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Retorno Z (% a.m.)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0,963007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Solução original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6,00%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0,952383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Viável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0,941759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Viável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7,08%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0,940909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Último viável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51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7,09%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Inviável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240" y="4898559"/>
            <a:ext cx="10550743" cy="58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Acima de 7,08% nenhuma carteira cumpre ao mesmo tempo o hedge mínimo e o risco de 0,35. A política admite hedge de até 15%, mas o risco não comporta.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Limitações e extensões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240" y="1565864"/>
            <a:ext cx="3399684" cy="1750084"/>
          </a:xfrm>
          <a:prstGeom prst="roundRect">
            <a:avLst>
              <a:gd name="adj" fmla="val 522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1580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históricos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21580" y="2068281"/>
            <a:ext cx="2981004" cy="11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usa médias de 2023 a 2026, período de valorização do real. O retorno negativo do dólar pode não se repetir.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96143" y="1565864"/>
            <a:ext cx="3399684" cy="1750084"/>
          </a:xfrm>
          <a:prstGeom prst="roundRect">
            <a:avLst>
              <a:gd name="adj" fmla="val 522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5483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 é seguro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05483" y="2068281"/>
            <a:ext cx="2981004" cy="11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 fundo de pensão, o hedge protege contra desvalorização cambial. Esse valor não aparece em um modelo com médias.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71672" y="1565864"/>
            <a:ext cx="3399684" cy="1750084"/>
          </a:xfrm>
          <a:prstGeom prst="roundRect">
            <a:avLst>
              <a:gd name="adj" fmla="val 5225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1013" y="1750084"/>
            <a:ext cx="2981004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quadrático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81013" y="2068281"/>
            <a:ext cx="2981004" cy="11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covariâncias entre as classes, o problema vira programação quadrática (estilo Markowitz). Seria uma extensão natural.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1674721"/>
            <a:ext cx="10467007" cy="234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kern="0" spc="250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· RECOMENDAÇÃO AO COMITÊ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812240" y="2076654"/>
            <a:ext cx="9462174" cy="1088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2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 CDI · 40% prefixado · 10% IPCA+ ·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2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 cambial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12240" y="3332695"/>
            <a:ext cx="10467007" cy="267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5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R$ 4.500.000 · R$ 4.000.000 · R$ 1.000.000 · R$ 500.000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240" y="3868606"/>
            <a:ext cx="10467007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0,963007% ao mês = R$ 96.300,74 por mês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12240" y="4421264"/>
            <a:ext cx="10048327" cy="50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C5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ponderado de 0,2875%, abaixo do limite de 0,35%. É a configuração que maximiza o retorno esperado respeitando todas as políticas internas.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711756"/>
            <a:ext cx="10550743" cy="7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Conclusão: políticas e viabilidade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240" y="1515623"/>
          <a:ext cx="10559116" cy="914400"/>
        </p:xfrm>
        <a:graphic>
          <a:graphicData uri="http://schemas.openxmlformats.org/drawingml/2006/table">
            <a:tbl>
              <a:tblPr/>
              <a:tblGrid>
                <a:gridCol w="3516914"/>
                <a:gridCol w="3516914"/>
                <a:gridCol w="3525288"/>
              </a:tblGrid>
              <a:tr h="485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Política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por mês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b="1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Preço-sombra por p.p.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DC"/>
                    </a:solidFill>
                  </a:tcPr>
                </a:tc>
              </a:tr>
              <a:tr h="485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Hedge cambial mínimo (5%)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R$ 5.312,17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−R$ 1.062,43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85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Proteção IPCA+ mínima (10%)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R$ 1.676,79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−R$ 167,68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85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Teto de prefixado (40%)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ganho marginal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16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+R$ 7,52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2240" y="3684386"/>
            <a:ext cx="5191635" cy="1406766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21580" y="3868606"/>
            <a:ext cx="4772955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concentrado no câmbio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21580" y="4186803"/>
            <a:ext cx="4772955" cy="820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orçamento de 0,35% tem folga (risco de 0,2875%), mas o câmbio responde por 54,3% do risco total.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88094" y="3684386"/>
            <a:ext cx="5191635" cy="1406766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97435" y="3868606"/>
            <a:ext cx="4772955" cy="30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hedge e risco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397435" y="4186803"/>
            <a:ext cx="4772955" cy="820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hedge mínimo acima de 7,08% o modelo fica inviável no limite de risco vigente. As duas restrições precisam ser revistas juntas.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2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240" y="2386478"/>
            <a:ext cx="7536245" cy="92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2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12240" y="3449925"/>
            <a:ext cx="5024163" cy="33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2051</Words>
  <Application>Microsoft Office PowerPoint</Application>
  <PresentationFormat>Widescreen</PresentationFormat>
  <Paragraphs>309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Alocação ótima de carteira</dc:title>
  <dc:subject>PptxGenJS Presentation</dc:subject>
  <dc:creator>PptxGenJS</dc:creator>
  <cp:lastModifiedBy>User</cp:lastModifiedBy>
  <cp:revision>2</cp:revision>
  <dcterms:created xsi:type="dcterms:W3CDTF">2026-10-13T01:06:22Z</dcterms:created>
  <dcterms:modified xsi:type="dcterms:W3CDTF">2026-10-13T01:05:53Z</dcterms:modified>
</cp:coreProperties>
</file>